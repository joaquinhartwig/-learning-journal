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AR"/>
          </a:p>
        </p:txBody>
      </p:sp>
      <p:sp>
        <p:nvSpPr>
          <p:cNvPr id="3" name="2 Subtítulo"/>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AR"/>
          </a:p>
        </p:txBody>
      </p:sp>
      <p:sp>
        <p:nvSpPr>
          <p:cNvPr id="4" name="3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idx="1" hasCustomPrompt="1"/>
          </p:nvPr>
        </p:nvSpPr>
        <p:spPr/>
        <p:txBody>
          <a:body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AR"/>
          </a:p>
        </p:txBody>
      </p:sp>
      <p:sp>
        <p:nvSpPr>
          <p:cNvPr id="3" name="2 Marcador de texto"/>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endParaRPr lang="es-ES" smtClean="0"/>
          </a:p>
        </p:txBody>
      </p:sp>
      <p:sp>
        <p:nvSpPr>
          <p:cNvPr id="4" name="3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contenido"/>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contenido"/>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5" name="4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AR"/>
          </a:p>
        </p:txBody>
      </p:sp>
      <p:sp>
        <p:nvSpPr>
          <p:cNvPr id="3" name="2 Marcador de texto"/>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endParaRPr lang="es-ES" smtClean="0"/>
          </a:p>
        </p:txBody>
      </p:sp>
      <p:sp>
        <p:nvSpPr>
          <p:cNvPr id="4" name="3 Marcador de contenido"/>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5" name="4 Marcador de texto"/>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endParaRPr lang="es-ES" smtClean="0"/>
          </a:p>
        </p:txBody>
      </p:sp>
      <p:sp>
        <p:nvSpPr>
          <p:cNvPr id="6" name="5 Marcador de contenido"/>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7" name="6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AR"/>
          </a:p>
        </p:txBody>
      </p:sp>
      <p:sp>
        <p:nvSpPr>
          <p:cNvPr id="3" name="2 Marcador de contenido"/>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texto"/>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endParaRPr lang="es-ES" smtClean="0"/>
          </a:p>
        </p:txBody>
      </p:sp>
      <p:sp>
        <p:nvSpPr>
          <p:cNvPr id="5" name="4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3 Marcador de texto"/>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endParaRPr lang="es-ES" smtClean="0"/>
          </a:p>
        </p:txBody>
      </p:sp>
      <p:sp>
        <p:nvSpPr>
          <p:cNvPr id="5" name="4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AR"/>
          </a:p>
        </p:txBody>
      </p:sp>
      <p:sp>
        <p:nvSpPr>
          <p:cNvPr id="3" name="2 Marcador de texto vertical"/>
          <p:cNvSpPr>
            <a:spLocks noGrp="1"/>
          </p:cNvSpPr>
          <p:nvPr>
            <p:ph type="body" orient="vert" idx="1" hasCustomPrompt="1"/>
          </p:nvPr>
        </p:nvSpPr>
        <p:spPr/>
        <p:txBody>
          <a:bodyPr vert="eaVert"/>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AR"/>
          </a:p>
        </p:txBody>
      </p:sp>
      <p:sp>
        <p:nvSpPr>
          <p:cNvPr id="3" name="2 Marcador de texto vertical"/>
          <p:cNvSpPr>
            <a:spLocks noGrp="1"/>
          </p:cNvSpPr>
          <p:nvPr>
            <p:ph type="body" orient="vert" idx="1" hasCustomPrompt="1"/>
          </p:nvPr>
        </p:nvSpPr>
        <p:spPr>
          <a:xfrm>
            <a:off x="457200" y="274638"/>
            <a:ext cx="6019800" cy="5851525"/>
          </a:xfrm>
        </p:spPr>
        <p:txBody>
          <a:bodyPr vert="eaVert"/>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fecha"/>
          <p:cNvSpPr>
            <a:spLocks noGrp="1"/>
          </p:cNvSpPr>
          <p:nvPr>
            <p:ph type="dt" sz="half" idx="10"/>
          </p:nvPr>
        </p:nvSpPr>
        <p:spPr/>
        <p:txBody>
          <a:bodyPr/>
          <a:lstStyle/>
          <a:p>
            <a:fld id="{A5A3C560-8148-4D70-A7A0-9D8A89D7AFD9}" type="datetimeFigureOut">
              <a:rPr lang="es-AR" smtClean="0"/>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5F7BF633-9BF5-4082-85A6-3F6EC9E1FC41}" type="slidenum">
              <a:rPr lang="es-AR" smtClean="0"/>
            </a:fld>
            <a:endParaRPr lang="es-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A3C560-8148-4D70-A7A0-9D8A89D7AFD9}" type="datetimeFigureOut">
              <a:rPr lang="es-AR" smtClean="0"/>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7BF633-9BF5-4082-85A6-3F6EC9E1FC41}" type="slidenum">
              <a:rPr lang="es-AR" smtClean="0"/>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Captura.PNG"/>
          <p:cNvPicPr>
            <a:picLocks noGrp="1" noChangeAspect="1"/>
          </p:cNvPicPr>
          <p:nvPr>
            <p:ph idx="1"/>
          </p:nvPr>
        </p:nvPicPr>
        <p:blipFill>
          <a:blip r:embed="rId1" cstate="print"/>
          <a:stretch>
            <a:fillRect/>
          </a:stretch>
        </p:blipFill>
        <p:spPr>
          <a:xfrm>
            <a:off x="251521" y="0"/>
            <a:ext cx="8208912" cy="6002102"/>
          </a:xfr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692696"/>
            <a:ext cx="8568952" cy="5472608"/>
          </a:xfrm>
        </p:spPr>
        <p:txBody>
          <a:bodyPr>
            <a:normAutofit fontScale="70000" lnSpcReduction="20000"/>
          </a:bodyPr>
          <a:lstStyle/>
          <a:p>
            <a:pPr>
              <a:buNone/>
            </a:pPr>
            <a:r>
              <a:rPr lang="es-ES" sz="4600" dirty="0" smtClean="0"/>
              <a:t>   2.1   </a:t>
            </a:r>
            <a:r>
              <a:rPr lang="es-ES" sz="4600" b="1" dirty="0" smtClean="0"/>
              <a:t>  </a:t>
            </a:r>
            <a:r>
              <a:rPr lang="es-ES" sz="4600" u="sng" dirty="0" smtClean="0">
                <a:solidFill>
                  <a:schemeClr val="bg2">
                    <a:lumMod val="25000"/>
                  </a:schemeClr>
                </a:solidFill>
              </a:rPr>
              <a:t>ETAPAS DEL MÉTODO ESTADÍSTICO</a:t>
            </a:r>
            <a:endParaRPr lang="es-ES" sz="4600" u="sng" dirty="0" smtClean="0">
              <a:solidFill>
                <a:schemeClr val="bg2">
                  <a:lumMod val="25000"/>
                </a:schemeClr>
              </a:solidFill>
            </a:endParaRPr>
          </a:p>
          <a:p>
            <a:pPr>
              <a:buNone/>
            </a:pPr>
            <a:endParaRPr lang="es-AR" dirty="0"/>
          </a:p>
          <a:p>
            <a:pPr marL="514350" lvl="0" indent="-514350">
              <a:buFont typeface="+mj-lt"/>
              <a:buAutoNum type="arabicParenR"/>
            </a:pPr>
            <a:r>
              <a:rPr lang="es-ES" dirty="0"/>
              <a:t> </a:t>
            </a:r>
            <a:r>
              <a:rPr lang="es-ES" sz="3600" b="1" dirty="0"/>
              <a:t>Planteamiento del problema</a:t>
            </a:r>
            <a:endParaRPr lang="es-AR" sz="3600" b="1" dirty="0"/>
          </a:p>
          <a:p>
            <a:pPr marL="514350" lvl="0" indent="-514350">
              <a:buFont typeface="+mj-lt"/>
              <a:buAutoNum type="arabicParenR"/>
            </a:pPr>
            <a:r>
              <a:rPr lang="es-ES" sz="3600" b="1" dirty="0"/>
              <a:t> Fijación de los objetivos</a:t>
            </a:r>
            <a:endParaRPr lang="es-AR" sz="3600" b="1" dirty="0"/>
          </a:p>
          <a:p>
            <a:pPr marL="514350" lvl="0" indent="-514350">
              <a:buFont typeface="+mj-lt"/>
              <a:buAutoNum type="arabicParenR"/>
            </a:pPr>
            <a:r>
              <a:rPr lang="es-ES" sz="3600" b="1" dirty="0"/>
              <a:t> Formulación de las hipótesis</a:t>
            </a:r>
            <a:endParaRPr lang="es-AR" sz="3600" b="1" dirty="0"/>
          </a:p>
          <a:p>
            <a:pPr marL="514350" lvl="0" indent="-514350">
              <a:buFont typeface="+mj-lt"/>
              <a:buAutoNum type="arabicParenR"/>
            </a:pPr>
            <a:r>
              <a:rPr lang="es-ES" sz="3600" b="1" dirty="0"/>
              <a:t> Definición de la unidad de observación y de la unidad de medida</a:t>
            </a:r>
            <a:endParaRPr lang="es-AR" sz="3600" b="1" dirty="0"/>
          </a:p>
          <a:p>
            <a:pPr marL="514350" lvl="0" indent="-514350">
              <a:buFont typeface="+mj-lt"/>
              <a:buAutoNum type="arabicParenR"/>
            </a:pPr>
            <a:r>
              <a:rPr lang="es-ES" sz="3600" b="1" dirty="0"/>
              <a:t> Determinación de la población y de la muestra</a:t>
            </a:r>
            <a:endParaRPr lang="es-AR" sz="3600" b="1" dirty="0"/>
          </a:p>
          <a:p>
            <a:pPr marL="514350" lvl="0" indent="-514350">
              <a:buFont typeface="+mj-lt"/>
              <a:buAutoNum type="arabicParenR"/>
            </a:pPr>
            <a:r>
              <a:rPr lang="es-ES" sz="3600" b="1" dirty="0"/>
              <a:t> La recolección</a:t>
            </a:r>
            <a:endParaRPr lang="es-AR" sz="3600" b="1" dirty="0"/>
          </a:p>
          <a:p>
            <a:pPr marL="514350" lvl="0" indent="-514350">
              <a:buFont typeface="+mj-lt"/>
              <a:buAutoNum type="arabicParenR"/>
            </a:pPr>
            <a:r>
              <a:rPr lang="es-ES" sz="3600" b="1" dirty="0"/>
              <a:t> Crítica, clasificación y ordenación</a:t>
            </a:r>
            <a:endParaRPr lang="es-AR" sz="3600" b="1" dirty="0"/>
          </a:p>
          <a:p>
            <a:pPr marL="514350" lvl="0" indent="-514350">
              <a:buFont typeface="+mj-lt"/>
              <a:buAutoNum type="arabicParenR"/>
            </a:pPr>
            <a:r>
              <a:rPr lang="es-ES" sz="3600" b="1" dirty="0"/>
              <a:t> La tabulación</a:t>
            </a:r>
            <a:endParaRPr lang="es-AR" sz="3600" b="1" dirty="0"/>
          </a:p>
          <a:p>
            <a:pPr marL="514350" lvl="0" indent="-514350">
              <a:buFont typeface="+mj-lt"/>
              <a:buAutoNum type="arabicParenR"/>
            </a:pPr>
            <a:r>
              <a:rPr lang="es-ES" sz="3600" b="1" dirty="0"/>
              <a:t> La presentación</a:t>
            </a:r>
            <a:endParaRPr lang="es-AR" sz="3600" b="1" dirty="0"/>
          </a:p>
          <a:p>
            <a:pPr marL="514350" lvl="0" indent="-514350">
              <a:buFont typeface="+mj-lt"/>
              <a:buAutoNum type="arabicParenR"/>
            </a:pPr>
            <a:r>
              <a:rPr lang="es-ES" sz="3600" b="1" dirty="0"/>
              <a:t> El análisis</a:t>
            </a:r>
            <a:endParaRPr lang="es-AR" sz="3600" b="1" dirty="0"/>
          </a:p>
          <a:p>
            <a:pPr marL="514350" lvl="0" indent="-514350">
              <a:buFont typeface="+mj-lt"/>
              <a:buAutoNum type="arabicParenR"/>
            </a:pPr>
            <a:r>
              <a:rPr lang="es-ES" sz="3600" b="1" dirty="0"/>
              <a:t> Publicación</a:t>
            </a:r>
            <a:endParaRPr lang="es-AR" sz="3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922114"/>
          </a:xfrm>
        </p:spPr>
        <p:txBody>
          <a:bodyPr>
            <a:normAutofit/>
          </a:bodyPr>
          <a:lstStyle/>
          <a:p>
            <a:r>
              <a:rPr lang="es-ES" b="1" dirty="0" smtClean="0">
                <a:solidFill>
                  <a:schemeClr val="bg2">
                    <a:lumMod val="25000"/>
                  </a:schemeClr>
                </a:solidFill>
              </a:rPr>
              <a:t>2.1.1  CONCEPTOS CLAVES</a:t>
            </a:r>
            <a:endParaRPr lang="es-AR" dirty="0">
              <a:solidFill>
                <a:schemeClr val="bg2">
                  <a:lumMod val="25000"/>
                </a:schemeClr>
              </a:solidFill>
            </a:endParaRPr>
          </a:p>
        </p:txBody>
      </p:sp>
      <p:sp>
        <p:nvSpPr>
          <p:cNvPr id="3" name="2 Marcador de contenido"/>
          <p:cNvSpPr>
            <a:spLocks noGrp="1"/>
          </p:cNvSpPr>
          <p:nvPr>
            <p:ph idx="1"/>
          </p:nvPr>
        </p:nvSpPr>
        <p:spPr>
          <a:xfrm>
            <a:off x="0" y="1268760"/>
            <a:ext cx="8892480" cy="4713387"/>
          </a:xfrm>
        </p:spPr>
        <p:txBody>
          <a:bodyPr>
            <a:normAutofit/>
          </a:bodyPr>
          <a:lstStyle/>
          <a:p>
            <a:r>
              <a:rPr lang="es-ES" b="1" u="sng" dirty="0" smtClean="0"/>
              <a:t>Unidad </a:t>
            </a:r>
            <a:r>
              <a:rPr lang="es-ES" b="1" u="sng" dirty="0"/>
              <a:t>de análisis (</a:t>
            </a:r>
            <a:r>
              <a:rPr lang="es-ES" b="1" u="sng" dirty="0" smtClean="0"/>
              <a:t>UA</a:t>
            </a:r>
            <a:r>
              <a:rPr lang="es-ES" dirty="0" smtClean="0"/>
              <a:t> </a:t>
            </a:r>
            <a:r>
              <a:rPr lang="es-ES" dirty="0"/>
              <a:t>objeto individual de estudio </a:t>
            </a:r>
            <a:r>
              <a:rPr lang="es-ES" dirty="0" smtClean="0"/>
              <a:t>del </a:t>
            </a:r>
            <a:r>
              <a:rPr lang="es-ES" dirty="0"/>
              <a:t>cual  se tiene interés en conocer o </a:t>
            </a:r>
            <a:r>
              <a:rPr lang="es-ES" dirty="0" smtClean="0"/>
              <a:t>describir</a:t>
            </a:r>
            <a:endParaRPr lang="es-AR" dirty="0"/>
          </a:p>
          <a:p>
            <a:r>
              <a:rPr lang="es-ES" b="1" u="sng" dirty="0"/>
              <a:t>Población o universo:</a:t>
            </a:r>
            <a:r>
              <a:rPr lang="es-ES" dirty="0"/>
              <a:t> Representa el conjunto de todas las unidades de </a:t>
            </a:r>
            <a:r>
              <a:rPr lang="es-ES" dirty="0" smtClean="0"/>
              <a:t>análisis. </a:t>
            </a:r>
            <a:r>
              <a:rPr lang="es-ES" dirty="0"/>
              <a:t>El tamaño de la población si es </a:t>
            </a:r>
            <a:r>
              <a:rPr lang="es-ES" dirty="0" smtClean="0"/>
              <a:t>conocido </a:t>
            </a:r>
            <a:r>
              <a:rPr lang="es-ES" dirty="0"/>
              <a:t>( finito)   se representa con </a:t>
            </a:r>
            <a:r>
              <a:rPr lang="es-ES" b="1" dirty="0"/>
              <a:t>N.</a:t>
            </a:r>
            <a:endParaRPr lang="es-AR" dirty="0"/>
          </a:p>
          <a:p>
            <a:r>
              <a:rPr lang="es-ES" b="1" dirty="0"/>
              <a:t>M</a:t>
            </a:r>
            <a:r>
              <a:rPr lang="es-ES" b="1" u="sng" dirty="0"/>
              <a:t>uestra</a:t>
            </a:r>
            <a:r>
              <a:rPr lang="es-ES" b="1" dirty="0"/>
              <a:t>:</a:t>
            </a:r>
            <a:r>
              <a:rPr lang="es-ES" dirty="0"/>
              <a:t> subconjunto de una población </a:t>
            </a:r>
            <a:r>
              <a:rPr lang="es-ES" dirty="0" smtClean="0"/>
              <a:t>.                        </a:t>
            </a:r>
            <a:r>
              <a:rPr lang="es-ES" dirty="0"/>
              <a:t>El tamaño se representa con </a:t>
            </a:r>
            <a:r>
              <a:rPr lang="es-ES" b="1" dirty="0"/>
              <a:t>n .</a:t>
            </a:r>
            <a:r>
              <a:rPr lang="es-ES" dirty="0"/>
              <a:t> </a:t>
            </a:r>
            <a:endParaRPr lang="es-AR" dirty="0"/>
          </a:p>
          <a:p>
            <a:endParaRPr lang="es-A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p:cNvPicPr>
            <a:picLocks noGrp="1"/>
          </p:cNvPicPr>
          <p:nvPr>
            <p:ph idx="1"/>
          </p:nvPr>
        </p:nvPicPr>
        <p:blipFill>
          <a:blip r:embed="rId1" cstate="print"/>
          <a:srcRect t="20442" b="2888"/>
          <a:stretch>
            <a:fillRect/>
          </a:stretch>
        </p:blipFill>
        <p:spPr bwMode="auto">
          <a:xfrm>
            <a:off x="0" y="2924944"/>
            <a:ext cx="9144000" cy="3933056"/>
          </a:xfrm>
          <a:prstGeom prst="rect">
            <a:avLst/>
          </a:prstGeom>
          <a:noFill/>
          <a:ln w="9525">
            <a:noFill/>
            <a:miter lim="800000"/>
            <a:headEnd/>
            <a:tailEnd/>
          </a:ln>
        </p:spPr>
      </p:pic>
      <p:sp>
        <p:nvSpPr>
          <p:cNvPr id="10" name="9 CuadroTexto"/>
          <p:cNvSpPr txBox="1"/>
          <p:nvPr/>
        </p:nvSpPr>
        <p:spPr>
          <a:xfrm>
            <a:off x="0" y="0"/>
            <a:ext cx="8532440" cy="2862322"/>
          </a:xfrm>
          <a:prstGeom prst="rect">
            <a:avLst/>
          </a:prstGeom>
          <a:noFill/>
        </p:spPr>
        <p:txBody>
          <a:bodyPr wrap="square" rtlCol="0">
            <a:spAutoFit/>
          </a:bodyPr>
          <a:lstStyle/>
          <a:p>
            <a:r>
              <a:rPr lang="es-ES" sz="2000" b="1" u="sng" dirty="0" smtClean="0"/>
              <a:t>  Parámetro</a:t>
            </a:r>
            <a:r>
              <a:rPr lang="es-ES" sz="2000" b="1" dirty="0"/>
              <a:t>:</a:t>
            </a:r>
            <a:r>
              <a:rPr lang="es-ES" sz="2000" dirty="0"/>
              <a:t> </a:t>
            </a:r>
            <a:r>
              <a:rPr lang="es-ES" sz="2000" dirty="0" smtClean="0"/>
              <a:t>característica  numérica de </a:t>
            </a:r>
            <a:r>
              <a:rPr lang="es-ES" sz="2000" dirty="0"/>
              <a:t>una </a:t>
            </a:r>
            <a:r>
              <a:rPr lang="es-ES" sz="2000" dirty="0" smtClean="0"/>
              <a:t>población numérica. </a:t>
            </a:r>
            <a:endParaRPr lang="es-ES" sz="2000" dirty="0" smtClean="0"/>
          </a:p>
          <a:p>
            <a:endParaRPr lang="es-ES" sz="2000" dirty="0" smtClean="0"/>
          </a:p>
          <a:p>
            <a:r>
              <a:rPr lang="es-ES" sz="2000" dirty="0" smtClean="0"/>
              <a:t>                             - </a:t>
            </a:r>
            <a:r>
              <a:rPr lang="es-ES" sz="2000" b="1" dirty="0" smtClean="0"/>
              <a:t>Promedio </a:t>
            </a:r>
            <a:r>
              <a:rPr lang="es-ES" sz="2000" b="1" dirty="0"/>
              <a:t>de edad (µ)</a:t>
            </a:r>
            <a:r>
              <a:rPr lang="es-ES" sz="2000" dirty="0"/>
              <a:t>  de los alumnos ingresantes, </a:t>
            </a:r>
            <a:endParaRPr lang="es-ES" sz="2000" dirty="0" smtClean="0"/>
          </a:p>
          <a:p>
            <a:r>
              <a:rPr lang="es-ES" sz="2000" dirty="0"/>
              <a:t> </a:t>
            </a:r>
            <a:r>
              <a:rPr lang="es-ES" sz="2000" dirty="0" smtClean="0"/>
              <a:t>                           - Proporción </a:t>
            </a:r>
            <a:r>
              <a:rPr lang="es-ES" sz="2000" dirty="0"/>
              <a:t>de </a:t>
            </a:r>
            <a:r>
              <a:rPr lang="es-ES" sz="2000" dirty="0" smtClean="0"/>
              <a:t>peces enfermos   </a:t>
            </a:r>
            <a:r>
              <a:rPr lang="es-ES" sz="2000" dirty="0"/>
              <a:t>de  los ingresantes ( </a:t>
            </a:r>
            <a:r>
              <a:rPr lang="es-ES" sz="2000" b="1" dirty="0"/>
              <a:t>P </a:t>
            </a:r>
            <a:r>
              <a:rPr lang="es-ES" sz="2000" dirty="0" smtClean="0"/>
              <a:t>)</a:t>
            </a:r>
            <a:endParaRPr lang="es-AR" sz="2000" dirty="0"/>
          </a:p>
          <a:p>
            <a:endParaRPr lang="es-AR" sz="2000" dirty="0"/>
          </a:p>
          <a:p>
            <a:r>
              <a:rPr lang="es-ES" sz="2000" b="1" u="sng" dirty="0"/>
              <a:t>Estadístico (o estimador) </a:t>
            </a:r>
            <a:r>
              <a:rPr lang="es-ES" sz="2000" b="1" dirty="0"/>
              <a:t>:</a:t>
            </a:r>
            <a:r>
              <a:rPr lang="es-ES" sz="2000" dirty="0"/>
              <a:t> </a:t>
            </a:r>
            <a:r>
              <a:rPr lang="es-ES" sz="2000" dirty="0" smtClean="0"/>
              <a:t>característica </a:t>
            </a:r>
            <a:r>
              <a:rPr lang="es-ES" sz="2000" dirty="0"/>
              <a:t>numérica de una muestra. </a:t>
            </a:r>
            <a:endParaRPr lang="es-ES" sz="2000" dirty="0" smtClean="0"/>
          </a:p>
          <a:p>
            <a:endParaRPr lang="es-ES" sz="2000" dirty="0" smtClean="0"/>
          </a:p>
          <a:p>
            <a:r>
              <a:rPr lang="es-ES" sz="2000" dirty="0" smtClean="0"/>
              <a:t> - El </a:t>
            </a:r>
            <a:r>
              <a:rPr lang="es-ES" sz="2000" dirty="0"/>
              <a:t>Promedio de edad de un grupo de ingresantes </a:t>
            </a:r>
            <a:r>
              <a:rPr lang="es-ES" sz="2000" dirty="0" smtClean="0"/>
              <a:t> </a:t>
            </a:r>
            <a:endParaRPr lang="es-ES" sz="2000" dirty="0" smtClean="0"/>
          </a:p>
          <a:p>
            <a:r>
              <a:rPr lang="es-ES" sz="2000" dirty="0" smtClean="0"/>
              <a:t> - Proporción </a:t>
            </a:r>
            <a:r>
              <a:rPr lang="es-ES" sz="2000" dirty="0"/>
              <a:t>de mujeres ingresantes dentro de este grupo (p) , etc</a:t>
            </a:r>
            <a:r>
              <a:rPr lang="es-ES" sz="2000" dirty="0" smtClean="0"/>
              <a:t>.</a:t>
            </a:r>
            <a:endParaRPr lang="es-AR" dirty="0"/>
          </a:p>
        </p:txBody>
      </p:sp>
      <p:pic>
        <p:nvPicPr>
          <p:cNvPr id="3076" name="Picture 4"/>
          <p:cNvPicPr>
            <a:picLocks noChangeAspect="1" noChangeArrowheads="1"/>
          </p:cNvPicPr>
          <p:nvPr/>
        </p:nvPicPr>
        <p:blipFill>
          <a:blip r:embed="rId2" cstate="print"/>
          <a:srcRect l="28571" t="25000" r="28571" b="37500"/>
          <a:stretch>
            <a:fillRect/>
          </a:stretch>
        </p:blipFill>
        <p:spPr bwMode="auto">
          <a:xfrm>
            <a:off x="5364088" y="2204864"/>
            <a:ext cx="216024" cy="21602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wipe(down)">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wipe(down)">
                                      <p:cBhvr>
                                        <p:cTn id="17" dur="5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xEl>
                                              <p:pRg st="5" end="5"/>
                                            </p:txEl>
                                          </p:spTgt>
                                        </p:tgtEl>
                                        <p:attrNameLst>
                                          <p:attrName>style.visibility</p:attrName>
                                        </p:attrNameLst>
                                      </p:cBhvr>
                                      <p:to>
                                        <p:strVal val="visible"/>
                                      </p:to>
                                    </p:set>
                                    <p:animEffect transition="in" filter="wipe(down)">
                                      <p:cBhvr>
                                        <p:cTn id="22" dur="500"/>
                                        <p:tgtEl>
                                          <p:spTgt spid="10">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xEl>
                                              <p:pRg st="7" end="7"/>
                                            </p:txEl>
                                          </p:spTgt>
                                        </p:tgtEl>
                                        <p:attrNameLst>
                                          <p:attrName>style.visibility</p:attrName>
                                        </p:attrNameLst>
                                      </p:cBhvr>
                                      <p:to>
                                        <p:strVal val="visible"/>
                                      </p:to>
                                    </p:set>
                                    <p:animEffect transition="in" filter="wipe(down)">
                                      <p:cBhvr>
                                        <p:cTn id="27" dur="500"/>
                                        <p:tgtEl>
                                          <p:spTgt spid="10">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xEl>
                                              <p:pRg st="8" end="8"/>
                                            </p:txEl>
                                          </p:spTgt>
                                        </p:tgtEl>
                                        <p:attrNameLst>
                                          <p:attrName>style.visibility</p:attrName>
                                        </p:attrNameLst>
                                      </p:cBhvr>
                                      <p:to>
                                        <p:strVal val="visible"/>
                                      </p:to>
                                    </p:set>
                                    <p:animEffect transition="in" filter="wipe(down)">
                                      <p:cBhvr>
                                        <p:cTn id="32" dur="500"/>
                                        <p:tgtEl>
                                          <p:spTgt spid="10">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down)">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457200" y="1600200"/>
            <a:ext cx="8686800" cy="4525963"/>
          </a:xfrm>
        </p:spPr>
        <p:txBody>
          <a:bodyPr/>
          <a:lstStyle/>
          <a:p>
            <a:r>
              <a:rPr lang="es-VE" dirty="0" smtClean="0"/>
              <a:t>Una variable estadística permite realizar una clasificación de los individuos de una población que se consideran como equivalentes. Se colocan en una misma clase las unidades estadísticas que se consideran equivalentes. Cada clase se llama </a:t>
            </a:r>
            <a:r>
              <a:rPr lang="es-VE" b="1" dirty="0" smtClean="0"/>
              <a:t>modalidad</a:t>
            </a:r>
            <a:r>
              <a:rPr lang="es-VE" dirty="0" smtClean="0"/>
              <a:t> del carácter estadístico.</a:t>
            </a:r>
            <a:endParaRPr lang="es-AR" dirty="0"/>
          </a:p>
        </p:txBody>
      </p:sp>
      <p:sp>
        <p:nvSpPr>
          <p:cNvPr id="6" name="5 Título"/>
          <p:cNvSpPr>
            <a:spLocks noGrp="1"/>
          </p:cNvSpPr>
          <p:nvPr>
            <p:ph type="title"/>
          </p:nvPr>
        </p:nvSpPr>
        <p:spPr/>
        <p:txBody>
          <a:bodyPr/>
          <a:lstStyle/>
          <a:p>
            <a:r>
              <a:rPr lang="es-ES" b="1" u="sng" dirty="0"/>
              <a:t>3. DISTRIBUCIÓN DE FRECUENCIA</a:t>
            </a:r>
            <a:endParaRPr lang="es-A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Marcador de contenido"/>
          <p:cNvSpPr>
            <a:spLocks noGrp="1"/>
          </p:cNvSpPr>
          <p:nvPr>
            <p:ph idx="1"/>
          </p:nvPr>
        </p:nvSpPr>
        <p:spPr>
          <a:xfrm>
            <a:off x="323528" y="4221088"/>
            <a:ext cx="8229600" cy="2376264"/>
          </a:xfrm>
        </p:spPr>
        <p:txBody>
          <a:bodyPr>
            <a:normAutofit fontScale="25000" lnSpcReduction="20000"/>
          </a:bodyPr>
          <a:lstStyle/>
          <a:p>
            <a:endParaRPr lang="es-AR" dirty="0"/>
          </a:p>
          <a:p>
            <a:pPr>
              <a:buNone/>
            </a:pPr>
            <a:endParaRPr lang="es-AR" sz="6200" dirty="0" smtClean="0"/>
          </a:p>
          <a:p>
            <a:pPr>
              <a:buNone/>
            </a:pPr>
            <a:r>
              <a:rPr lang="es-AR" sz="6200" dirty="0" smtClean="0"/>
              <a:t>Se  </a:t>
            </a:r>
            <a:r>
              <a:rPr lang="es-AR" sz="6200" dirty="0"/>
              <a:t>los puede reorganizar  según diferentes   variables: Por ejemplo según:</a:t>
            </a:r>
            <a:endParaRPr lang="es-AR" sz="6200" dirty="0"/>
          </a:p>
          <a:p>
            <a:pPr>
              <a:buNone/>
            </a:pPr>
            <a:r>
              <a:rPr lang="es-AR" sz="6200" b="1" u="sng" dirty="0"/>
              <a:t>Turno:</a:t>
            </a:r>
            <a:r>
              <a:rPr lang="es-AR" sz="6200" dirty="0"/>
              <a:t> Tarde y mañana</a:t>
            </a:r>
            <a:endParaRPr lang="es-AR" sz="6200" dirty="0"/>
          </a:p>
          <a:p>
            <a:pPr>
              <a:buNone/>
            </a:pPr>
            <a:r>
              <a:rPr lang="es-AR" sz="6200" b="1" u="sng" dirty="0"/>
              <a:t>Sexo:</a:t>
            </a:r>
            <a:r>
              <a:rPr lang="es-AR" sz="6200" dirty="0"/>
              <a:t> Femenino y Masculino</a:t>
            </a:r>
            <a:endParaRPr lang="es-AR" sz="6200" dirty="0"/>
          </a:p>
          <a:p>
            <a:pPr>
              <a:buNone/>
            </a:pPr>
            <a:r>
              <a:rPr lang="es-AR" sz="6200" b="1" u="sng" dirty="0"/>
              <a:t>Grado</a:t>
            </a:r>
            <a:r>
              <a:rPr lang="es-AR" sz="6200" dirty="0"/>
              <a:t>:   de 1° a  7° (siete modalidades)</a:t>
            </a:r>
            <a:endParaRPr lang="es-AR" sz="6200" dirty="0"/>
          </a:p>
          <a:p>
            <a:pPr>
              <a:buNone/>
            </a:pPr>
            <a:r>
              <a:rPr lang="es-AR" sz="6200" b="1" u="sng" dirty="0"/>
              <a:t>Edad:</a:t>
            </a:r>
            <a:r>
              <a:rPr lang="es-AR" sz="6200" dirty="0"/>
              <a:t>  DE  6 A  14 años </a:t>
            </a:r>
            <a:endParaRPr lang="es-AR" sz="6200" dirty="0"/>
          </a:p>
          <a:p>
            <a:pPr>
              <a:buNone/>
            </a:pPr>
            <a:r>
              <a:rPr lang="es-AR" sz="6200" b="1" u="sng" dirty="0"/>
              <a:t>Peso:</a:t>
            </a:r>
            <a:r>
              <a:rPr lang="es-AR" sz="6200" dirty="0"/>
              <a:t> de 20 kg a  80 kg  </a:t>
            </a:r>
            <a:endParaRPr lang="es-AR" sz="6200" dirty="0"/>
          </a:p>
          <a:p>
            <a:pPr>
              <a:buNone/>
            </a:pPr>
            <a:r>
              <a:rPr lang="es-AR" sz="6200" b="1" dirty="0"/>
              <a:t>Altura</a:t>
            </a:r>
            <a:r>
              <a:rPr lang="es-AR" sz="6200" dirty="0"/>
              <a:t>: 1.10 m a 1.80 m</a:t>
            </a:r>
            <a:endParaRPr lang="es-AR" sz="6200" dirty="0"/>
          </a:p>
          <a:p>
            <a:pPr>
              <a:buNone/>
            </a:pPr>
            <a:r>
              <a:rPr lang="es-AR" sz="6200" dirty="0"/>
              <a:t> </a:t>
            </a:r>
            <a:endParaRPr lang="es-AR" sz="6200" dirty="0"/>
          </a:p>
          <a:p>
            <a:pPr>
              <a:buNone/>
            </a:pPr>
            <a:r>
              <a:rPr lang="es-ES" sz="6200" dirty="0"/>
              <a:t> </a:t>
            </a:r>
            <a:endParaRPr lang="es-AR" sz="6200" dirty="0"/>
          </a:p>
          <a:p>
            <a:pPr>
              <a:buNone/>
            </a:pPr>
            <a:r>
              <a:rPr lang="es-ES" sz="6200" dirty="0"/>
              <a:t> </a:t>
            </a:r>
            <a:endParaRPr lang="es-AR" sz="6200" dirty="0"/>
          </a:p>
          <a:p>
            <a:pPr>
              <a:buNone/>
            </a:pPr>
            <a:r>
              <a:rPr lang="es-ES" sz="6200" dirty="0"/>
              <a:t> </a:t>
            </a:r>
            <a:endParaRPr lang="es-AR" sz="6200" dirty="0"/>
          </a:p>
          <a:p>
            <a:pPr>
              <a:buNone/>
            </a:pPr>
            <a:r>
              <a:rPr lang="es-ES" sz="6200" dirty="0"/>
              <a:t> </a:t>
            </a:r>
            <a:endParaRPr lang="es-AR" sz="6200" dirty="0"/>
          </a:p>
          <a:p>
            <a:pPr>
              <a:buNone/>
            </a:pPr>
            <a:r>
              <a:rPr lang="es-ES" sz="6200" dirty="0"/>
              <a:t> </a:t>
            </a:r>
            <a:endParaRPr lang="es-AR" sz="6200" dirty="0"/>
          </a:p>
          <a:p>
            <a:pPr>
              <a:buNone/>
            </a:pPr>
            <a:r>
              <a:rPr lang="es-ES" sz="6200" dirty="0"/>
              <a:t> </a:t>
            </a:r>
            <a:endParaRPr lang="es-AR" sz="6200" dirty="0"/>
          </a:p>
          <a:p>
            <a:endParaRPr lang="es-AR" sz="6200" dirty="0"/>
          </a:p>
        </p:txBody>
      </p:sp>
      <p:sp>
        <p:nvSpPr>
          <p:cNvPr id="6" name="5 CuadroTexto"/>
          <p:cNvSpPr txBox="1"/>
          <p:nvPr/>
        </p:nvSpPr>
        <p:spPr>
          <a:xfrm>
            <a:off x="0" y="620688"/>
            <a:ext cx="8712968" cy="2031325"/>
          </a:xfrm>
          <a:prstGeom prst="rect">
            <a:avLst/>
          </a:prstGeom>
          <a:noFill/>
        </p:spPr>
        <p:txBody>
          <a:bodyPr wrap="square" rtlCol="0">
            <a:spAutoFit/>
          </a:bodyPr>
          <a:lstStyle/>
          <a:p>
            <a:pPr>
              <a:buNone/>
            </a:pPr>
            <a:r>
              <a:rPr lang="es-ES" b="1" u="sng" dirty="0" smtClean="0"/>
              <a:t>Imagen 1:</a:t>
            </a:r>
            <a:r>
              <a:rPr lang="es-ES" dirty="0" smtClean="0"/>
              <a:t> Alumnos de primaria de San Pedro</a:t>
            </a:r>
            <a:endParaRPr lang="es-AR" dirty="0" smtClean="0"/>
          </a:p>
          <a:p>
            <a:pPr>
              <a:buNone/>
            </a:pPr>
            <a:r>
              <a:rPr lang="es-ES" dirty="0" smtClean="0"/>
              <a:t>Veamos un caso concreto supongamos que tenemos  380 alumnos sentados  de 1º a 7º de la Esc. Nº 144 de San Pedro, Misiones ( Imagen 2) sentados sin ningún criterio específico .</a:t>
            </a:r>
            <a:r>
              <a:rPr lang="es-AR" dirty="0" smtClean="0"/>
              <a:t> </a:t>
            </a:r>
            <a:endParaRPr lang="es-AR" dirty="0" smtClean="0"/>
          </a:p>
          <a:p>
            <a:pPr>
              <a:buNone/>
            </a:pPr>
            <a:endParaRPr lang="es-AR" dirty="0" smtClean="0"/>
          </a:p>
          <a:p>
            <a:pPr>
              <a:buNone/>
            </a:pPr>
            <a:r>
              <a:rPr lang="es-ES" dirty="0" smtClean="0"/>
              <a:t> </a:t>
            </a:r>
            <a:endParaRPr lang="es-AR" dirty="0" smtClean="0"/>
          </a:p>
          <a:p>
            <a:pPr>
              <a:buNone/>
            </a:pPr>
            <a:r>
              <a:rPr lang="es-ES" dirty="0" smtClean="0"/>
              <a:t> </a:t>
            </a:r>
            <a:endParaRPr lang="es-AR" dirty="0" smtClean="0"/>
          </a:p>
          <a:p>
            <a:endParaRPr lang="es-AR" dirty="0"/>
          </a:p>
        </p:txBody>
      </p:sp>
      <p:pic>
        <p:nvPicPr>
          <p:cNvPr id="7" name="6 Imagen" descr="Resultado de imagen para muchos  niÃ±os en una escuela posadas "/>
          <p:cNvPicPr/>
          <p:nvPr/>
        </p:nvPicPr>
        <p:blipFill>
          <a:blip r:embed="rId1" cstate="print"/>
          <a:srcRect/>
          <a:stretch>
            <a:fillRect/>
          </a:stretch>
        </p:blipFill>
        <p:spPr bwMode="auto">
          <a:xfrm>
            <a:off x="2483768" y="1556792"/>
            <a:ext cx="3888432" cy="27363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sz="2800" b="1" u="sng" dirty="0" smtClean="0">
                <a:solidFill>
                  <a:schemeClr val="bg2">
                    <a:lumMod val="25000"/>
                  </a:schemeClr>
                </a:solidFill>
              </a:rPr>
              <a:t>Ejemplos de distribuciones de frecuencias </a:t>
            </a:r>
            <a:endParaRPr lang="es-AR" sz="2800" b="1" u="sng" dirty="0">
              <a:solidFill>
                <a:schemeClr val="bg2">
                  <a:lumMod val="25000"/>
                </a:schemeClr>
              </a:solidFill>
            </a:endParaRPr>
          </a:p>
        </p:txBody>
      </p:sp>
      <p:pic>
        <p:nvPicPr>
          <p:cNvPr id="10242" name="Picture 2"/>
          <p:cNvPicPr>
            <a:picLocks noGrp="1" noChangeAspect="1" noChangeArrowheads="1"/>
          </p:cNvPicPr>
          <p:nvPr>
            <p:ph idx="1"/>
          </p:nvPr>
        </p:nvPicPr>
        <p:blipFill>
          <a:blip r:embed="rId1" cstate="print"/>
          <a:srcRect/>
          <a:stretch>
            <a:fillRect/>
          </a:stretch>
        </p:blipFill>
        <p:spPr bwMode="auto">
          <a:xfrm>
            <a:off x="283088" y="1700808"/>
            <a:ext cx="8860912" cy="33843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8229600" cy="1143000"/>
          </a:xfrm>
        </p:spPr>
        <p:txBody>
          <a:bodyPr/>
          <a:lstStyle/>
          <a:p>
            <a:r>
              <a:rPr lang="es-AR" b="1" u="sng" dirty="0" smtClean="0">
                <a:solidFill>
                  <a:schemeClr val="bg2">
                    <a:lumMod val="25000"/>
                  </a:schemeClr>
                </a:solidFill>
              </a:rPr>
              <a:t>Interpretando  algunos valores</a:t>
            </a:r>
            <a:endParaRPr lang="es-AR" b="1" u="sng" dirty="0">
              <a:solidFill>
                <a:schemeClr val="bg2">
                  <a:lumMod val="25000"/>
                </a:schemeClr>
              </a:solidFill>
            </a:endParaRPr>
          </a:p>
        </p:txBody>
      </p:sp>
      <p:pic>
        <p:nvPicPr>
          <p:cNvPr id="11266" name="Picture 2"/>
          <p:cNvPicPr>
            <a:picLocks noGrp="1" noChangeAspect="1" noChangeArrowheads="1"/>
          </p:cNvPicPr>
          <p:nvPr>
            <p:ph idx="1"/>
          </p:nvPr>
        </p:nvPicPr>
        <p:blipFill>
          <a:blip r:embed="rId1" cstate="print"/>
          <a:srcRect/>
          <a:stretch>
            <a:fillRect/>
          </a:stretch>
        </p:blipFill>
        <p:spPr bwMode="auto">
          <a:xfrm>
            <a:off x="179512" y="1916832"/>
            <a:ext cx="8064468" cy="4296643"/>
          </a:xfrm>
          <a:prstGeom prst="rect">
            <a:avLst/>
          </a:prstGeom>
          <a:noFill/>
          <a:ln w="9525">
            <a:noFill/>
            <a:miter lim="800000"/>
            <a:headEnd/>
            <a:tailEnd/>
          </a:ln>
        </p:spPr>
      </p:pic>
      <p:sp>
        <p:nvSpPr>
          <p:cNvPr id="5" name="4 CuadroTexto"/>
          <p:cNvSpPr txBox="1"/>
          <p:nvPr/>
        </p:nvSpPr>
        <p:spPr>
          <a:xfrm>
            <a:off x="251520" y="908720"/>
            <a:ext cx="8892480" cy="830997"/>
          </a:xfrm>
          <a:prstGeom prst="rect">
            <a:avLst/>
          </a:prstGeom>
          <a:noFill/>
        </p:spPr>
        <p:txBody>
          <a:bodyPr wrap="square" rtlCol="0">
            <a:spAutoFit/>
          </a:bodyPr>
          <a:lstStyle/>
          <a:p>
            <a:r>
              <a:rPr lang="es-AR" sz="2400" dirty="0" smtClean="0"/>
              <a:t>Luego del calculo de la cantidad de intervalos con la regla de         </a:t>
            </a:r>
            <a:r>
              <a:rPr lang="es-AR" sz="2400" dirty="0" err="1" smtClean="0"/>
              <a:t>Sturges</a:t>
            </a:r>
            <a:r>
              <a:rPr lang="es-AR" sz="2400" dirty="0" smtClean="0"/>
              <a:t>  C= 1+3.32.log(n)  y  la  Amplitud : A=(</a:t>
            </a:r>
            <a:r>
              <a:rPr lang="es-AR" sz="2400" dirty="0" err="1" smtClean="0"/>
              <a:t>V</a:t>
            </a:r>
            <a:r>
              <a:rPr lang="es-AR" sz="2400" baseline="-25000" dirty="0" err="1" smtClean="0">
                <a:effectLst>
                  <a:outerShdw blurRad="38100" dist="38100" dir="2700000" algn="tl">
                    <a:srgbClr val="000000">
                      <a:alpha val="43137"/>
                    </a:srgbClr>
                  </a:outerShdw>
                </a:effectLst>
              </a:rPr>
              <a:t>max</a:t>
            </a:r>
            <a:r>
              <a:rPr lang="es-AR" sz="2400" dirty="0" err="1" smtClean="0"/>
              <a:t>-V</a:t>
            </a:r>
            <a:r>
              <a:rPr lang="es-AR" sz="2400" baseline="-25000" dirty="0" err="1" smtClean="0"/>
              <a:t>min</a:t>
            </a:r>
            <a:r>
              <a:rPr lang="es-AR" sz="2400" dirty="0" smtClean="0"/>
              <a:t>)/k</a:t>
            </a:r>
            <a:endParaRPr lang="es-AR"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620688"/>
            <a:ext cx="8229600" cy="1143000"/>
          </a:xfrm>
        </p:spPr>
        <p:txBody>
          <a:bodyPr/>
          <a:lstStyle/>
          <a:p>
            <a:r>
              <a:rPr lang="es-AR" b="1" u="sng" dirty="0" smtClean="0">
                <a:solidFill>
                  <a:schemeClr val="bg2">
                    <a:lumMod val="50000"/>
                  </a:schemeClr>
                </a:solidFill>
              </a:rPr>
              <a:t>Respuestas </a:t>
            </a:r>
            <a:endParaRPr lang="es-AR" b="1" u="sng" dirty="0">
              <a:solidFill>
                <a:schemeClr val="bg2">
                  <a:lumMod val="50000"/>
                </a:schemeClr>
              </a:solidFill>
            </a:endParaRPr>
          </a:p>
        </p:txBody>
      </p:sp>
      <p:pic>
        <p:nvPicPr>
          <p:cNvPr id="12290" name="Picture 2"/>
          <p:cNvPicPr>
            <a:picLocks noGrp="1" noChangeAspect="1" noChangeArrowheads="1"/>
          </p:cNvPicPr>
          <p:nvPr>
            <p:ph idx="1"/>
          </p:nvPr>
        </p:nvPicPr>
        <p:blipFill>
          <a:blip r:embed="rId1" cstate="print"/>
          <a:srcRect/>
          <a:stretch>
            <a:fillRect/>
          </a:stretch>
        </p:blipFill>
        <p:spPr bwMode="auto">
          <a:xfrm>
            <a:off x="0" y="2132856"/>
            <a:ext cx="9145015" cy="25922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sz="2800" b="1" u="sng" dirty="0" smtClean="0">
                <a:solidFill>
                  <a:schemeClr val="bg2">
                    <a:lumMod val="25000"/>
                  </a:schemeClr>
                </a:solidFill>
              </a:rPr>
              <a:t>VARIABLES CUALITATIVAS </a:t>
            </a:r>
            <a:endParaRPr lang="es-AR" sz="2800" b="1" u="sng" dirty="0">
              <a:solidFill>
                <a:schemeClr val="bg2">
                  <a:lumMod val="25000"/>
                </a:schemeClr>
              </a:solidFill>
            </a:endParaRPr>
          </a:p>
        </p:txBody>
      </p:sp>
      <p:pic>
        <p:nvPicPr>
          <p:cNvPr id="13314" name="Picture 2"/>
          <p:cNvPicPr>
            <a:picLocks noGrp="1" noChangeAspect="1" noChangeArrowheads="1"/>
          </p:cNvPicPr>
          <p:nvPr>
            <p:ph idx="1"/>
          </p:nvPr>
        </p:nvPicPr>
        <p:blipFill>
          <a:blip r:embed="rId1" cstate="print"/>
          <a:srcRect/>
          <a:stretch>
            <a:fillRect/>
          </a:stretch>
        </p:blipFill>
        <p:spPr bwMode="auto">
          <a:xfrm>
            <a:off x="467543" y="1521136"/>
            <a:ext cx="8138943" cy="46441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1" cstate="print"/>
          <a:srcRect/>
          <a:stretch>
            <a:fillRect/>
          </a:stretch>
        </p:blipFill>
        <p:spPr bwMode="auto">
          <a:xfrm>
            <a:off x="179512" y="188640"/>
            <a:ext cx="8594598" cy="638132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1" cstate="print"/>
          <a:srcRect/>
          <a:stretch>
            <a:fillRect/>
          </a:stretch>
        </p:blipFill>
        <p:spPr bwMode="auto">
          <a:xfrm>
            <a:off x="179512" y="908720"/>
            <a:ext cx="8686637" cy="43924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1" cstate="print"/>
          <a:srcRect/>
          <a:stretch>
            <a:fillRect/>
          </a:stretch>
        </p:blipFill>
        <p:spPr bwMode="auto">
          <a:xfrm>
            <a:off x="-1" y="0"/>
            <a:ext cx="8978015" cy="63093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Grp="1" noChangeAspect="1" noChangeArrowheads="1"/>
          </p:cNvPicPr>
          <p:nvPr>
            <p:ph idx="1"/>
          </p:nvPr>
        </p:nvPicPr>
        <p:blipFill>
          <a:blip r:embed="rId1" cstate="print"/>
          <a:srcRect/>
          <a:stretch>
            <a:fillRect/>
          </a:stretch>
        </p:blipFill>
        <p:spPr bwMode="auto">
          <a:xfrm>
            <a:off x="0" y="0"/>
            <a:ext cx="9141544" cy="65973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AR" sz="2400" b="1" u="sng" dirty="0" smtClean="0">
                <a:solidFill>
                  <a:schemeClr val="bg2">
                    <a:lumMod val="25000"/>
                  </a:schemeClr>
                </a:solidFill>
              </a:rPr>
              <a:t>MEDIDAS DE TENDENCIA CENTRAL </a:t>
            </a:r>
            <a:endParaRPr lang="es-AR" sz="2400" b="1" u="sng" dirty="0">
              <a:solidFill>
                <a:schemeClr val="bg2">
                  <a:lumMod val="25000"/>
                </a:schemeClr>
              </a:solidFill>
            </a:endParaRPr>
          </a:p>
        </p:txBody>
      </p:sp>
      <p:pic>
        <p:nvPicPr>
          <p:cNvPr id="18434" name="Picture 2"/>
          <p:cNvPicPr>
            <a:picLocks noGrp="1" noChangeAspect="1" noChangeArrowheads="1"/>
          </p:cNvPicPr>
          <p:nvPr>
            <p:ph idx="1"/>
          </p:nvPr>
        </p:nvPicPr>
        <p:blipFill>
          <a:blip r:embed="rId1" cstate="print"/>
          <a:srcRect/>
          <a:stretch>
            <a:fillRect/>
          </a:stretch>
        </p:blipFill>
        <p:spPr bwMode="auto">
          <a:xfrm>
            <a:off x="0" y="1196752"/>
            <a:ext cx="9103195" cy="4176464"/>
          </a:xfrm>
          <a:prstGeom prst="rect">
            <a:avLst/>
          </a:prstGeom>
          <a:noFill/>
          <a:ln w="9525">
            <a:noFill/>
            <a:miter lim="800000"/>
            <a:headEnd/>
            <a:tailEnd/>
          </a:ln>
        </p:spPr>
      </p:pic>
      <p:sp>
        <p:nvSpPr>
          <p:cNvPr id="6" name="5 Rectángulo"/>
          <p:cNvSpPr/>
          <p:nvPr/>
        </p:nvSpPr>
        <p:spPr>
          <a:xfrm>
            <a:off x="323528" y="5301208"/>
            <a:ext cx="2808312" cy="461665"/>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es-ES" sz="2400" b="1" cap="none" spc="0" dirty="0" smtClean="0">
                <a:ln>
                  <a:prstDash val="solid"/>
                </a:ln>
                <a:solidFill>
                  <a:srgbClr val="7030A0"/>
                </a:solidFill>
                <a:effectLst>
                  <a:outerShdw blurRad="88000" dist="50800" dir="5040000" algn="tl">
                    <a:schemeClr val="accent4">
                      <a:tint val="80000"/>
                      <a:satMod val="250000"/>
                      <a:alpha val="45000"/>
                    </a:schemeClr>
                  </a:outerShdw>
                </a:effectLst>
              </a:rPr>
              <a:t>5.2 MEDIANA</a:t>
            </a:r>
            <a:endParaRPr lang="es-ES" sz="2400" b="1" cap="none" spc="0" dirty="0" smtClean="0">
              <a:ln>
                <a:prstDash val="solid"/>
              </a:ln>
              <a:solidFill>
                <a:srgbClr val="7030A0"/>
              </a:solidFill>
              <a:effectLst>
                <a:outerShdw blurRad="88000" dist="50800" dir="5040000" algn="tl">
                  <a:schemeClr val="accent4">
                    <a:tint val="80000"/>
                    <a:satMod val="250000"/>
                    <a:alpha val="45000"/>
                  </a:schemeClr>
                </a:outerShdw>
              </a:effectLst>
            </a:endParaRPr>
          </a:p>
        </p:txBody>
      </p:sp>
      <p:sp>
        <p:nvSpPr>
          <p:cNvPr id="7" name="6 Rectángulo"/>
          <p:cNvSpPr/>
          <p:nvPr/>
        </p:nvSpPr>
        <p:spPr>
          <a:xfrm>
            <a:off x="323528" y="5877272"/>
            <a:ext cx="2808312" cy="461665"/>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es-ES" sz="2400" b="1" cap="none" spc="0" dirty="0" smtClean="0">
                <a:ln>
                  <a:prstDash val="solid"/>
                </a:ln>
                <a:solidFill>
                  <a:srgbClr val="7030A0"/>
                </a:solidFill>
                <a:effectLst>
                  <a:outerShdw blurRad="88000" dist="50800" dir="5040000" algn="tl">
                    <a:schemeClr val="accent4">
                      <a:tint val="80000"/>
                      <a:satMod val="250000"/>
                      <a:alpha val="45000"/>
                    </a:schemeClr>
                  </a:outerShdw>
                </a:effectLst>
              </a:rPr>
              <a:t>5.3 MODA/O</a:t>
            </a:r>
            <a:endParaRPr lang="es-ES" sz="2400" b="1" cap="none" spc="0" dirty="0" smtClean="0">
              <a:ln>
                <a:prstDash val="solid"/>
              </a:ln>
              <a:solidFill>
                <a:srgbClr val="7030A0"/>
              </a:solidFill>
              <a:effectLst>
                <a:outerShdw blurRad="88000" dist="50800" dir="5040000" algn="tl">
                  <a:schemeClr val="accent4">
                    <a:tint val="80000"/>
                    <a:satMod val="250000"/>
                    <a:alpha val="45000"/>
                  </a:schemeClr>
                </a:outerShdw>
              </a:effectLs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0"/>
            <a:ext cx="8229600" cy="1143000"/>
          </a:xfrm>
        </p:spPr>
        <p:txBody>
          <a:bodyPr>
            <a:normAutofit/>
          </a:bodyPr>
          <a:lstStyle/>
          <a:p>
            <a:r>
              <a:rPr lang="es-AR" sz="3200" b="1" u="sng" dirty="0" smtClean="0">
                <a:solidFill>
                  <a:srgbClr val="7030A0"/>
                </a:solidFill>
              </a:rPr>
              <a:t>MEDIDAS DE VARIABILIDAD</a:t>
            </a:r>
            <a:endParaRPr lang="es-AR" sz="3200" b="1" u="sng" dirty="0">
              <a:solidFill>
                <a:srgbClr val="7030A0"/>
              </a:solidFill>
            </a:endParaRPr>
          </a:p>
        </p:txBody>
      </p:sp>
      <p:sp>
        <p:nvSpPr>
          <p:cNvPr id="3" name="2 Marcador de contenido"/>
          <p:cNvSpPr>
            <a:spLocks noGrp="1"/>
          </p:cNvSpPr>
          <p:nvPr>
            <p:ph idx="1"/>
          </p:nvPr>
        </p:nvSpPr>
        <p:spPr>
          <a:xfrm>
            <a:off x="0" y="908720"/>
            <a:ext cx="9144000" cy="1944216"/>
          </a:xfrm>
        </p:spPr>
        <p:txBody>
          <a:bodyPr>
            <a:normAutofit/>
          </a:bodyPr>
          <a:lstStyle/>
          <a:p>
            <a:pPr marL="0" indent="0" algn="just">
              <a:buNone/>
            </a:pPr>
            <a:r>
              <a:rPr lang="es-ES" sz="2000" dirty="0"/>
              <a:t>Las medidas de </a:t>
            </a:r>
            <a:r>
              <a:rPr lang="es-ES" sz="2000" b="1" dirty="0"/>
              <a:t>posición centra</a:t>
            </a:r>
            <a:r>
              <a:rPr lang="es-ES" sz="2000" dirty="0"/>
              <a:t>l son los valores que de una </a:t>
            </a:r>
            <a:r>
              <a:rPr lang="es-ES" sz="2000" dirty="0" smtClean="0"/>
              <a:t>manera condensada </a:t>
            </a:r>
            <a:r>
              <a:rPr lang="es-ES" sz="2000" dirty="0"/>
              <a:t>representan  una serie de datos, pero realmente </a:t>
            </a:r>
            <a:r>
              <a:rPr lang="es-ES" sz="2000" b="1" i="1" dirty="0"/>
              <a:t>no son suficientes </a:t>
            </a:r>
            <a:r>
              <a:rPr lang="es-ES" sz="2000" dirty="0"/>
              <a:t>para  caracterizar una distribución de frecuencia.  Para describir una distribución de frecuencia o serie de datos es necesario, por lo menos otra medida que indique la </a:t>
            </a:r>
            <a:r>
              <a:rPr lang="es-ES" sz="2000" b="1" i="1" dirty="0"/>
              <a:t>dispersión o variabilidad </a:t>
            </a:r>
            <a:r>
              <a:rPr lang="es-ES" sz="2000" dirty="0"/>
              <a:t>de los datos, es decir</a:t>
            </a:r>
            <a:r>
              <a:rPr lang="es-ES" sz="2000" b="1" i="1" dirty="0"/>
              <a:t>, su alejamiento de las medidas de posición central</a:t>
            </a:r>
            <a:r>
              <a:rPr lang="es-ES" sz="2000" dirty="0"/>
              <a:t>.</a:t>
            </a:r>
            <a:endParaRPr lang="es-AR" sz="2000" dirty="0"/>
          </a:p>
        </p:txBody>
      </p:sp>
      <p:sp>
        <p:nvSpPr>
          <p:cNvPr id="4" name="3 CuadroTexto"/>
          <p:cNvSpPr txBox="1"/>
          <p:nvPr/>
        </p:nvSpPr>
        <p:spPr>
          <a:xfrm>
            <a:off x="395536" y="2780928"/>
            <a:ext cx="8748464" cy="4339650"/>
          </a:xfrm>
          <a:prstGeom prst="rect">
            <a:avLst/>
          </a:prstGeom>
          <a:noFill/>
        </p:spPr>
        <p:txBody>
          <a:bodyPr wrap="square" rtlCol="0">
            <a:spAutoFit/>
          </a:bodyPr>
          <a:lstStyle/>
          <a:p>
            <a:r>
              <a:rPr lang="es-ES" sz="2400" b="1" dirty="0"/>
              <a:t>a</a:t>
            </a:r>
            <a:r>
              <a:rPr lang="es-ES" sz="2400" b="1" i="1" u="sng" dirty="0" smtClean="0">
                <a:solidFill>
                  <a:srgbClr val="7030A0"/>
                </a:solidFill>
              </a:rPr>
              <a:t>) </a:t>
            </a:r>
            <a:r>
              <a:rPr lang="es-ES" sz="2400" b="1" i="1" u="sng" dirty="0">
                <a:solidFill>
                  <a:srgbClr val="7030A0"/>
                </a:solidFill>
              </a:rPr>
              <a:t>Las  Medidas de  Dispersión  </a:t>
            </a:r>
            <a:r>
              <a:rPr lang="es-ES" sz="2400" b="1" i="1" u="sng" dirty="0" smtClean="0">
                <a:solidFill>
                  <a:srgbClr val="7030A0"/>
                </a:solidFill>
              </a:rPr>
              <a:t>Absolutas  </a:t>
            </a:r>
            <a:endParaRPr lang="es-ES" sz="2400" b="1" i="1" u="sng" dirty="0" smtClean="0">
              <a:solidFill>
                <a:srgbClr val="7030A0"/>
              </a:solidFill>
            </a:endParaRPr>
          </a:p>
          <a:p>
            <a:r>
              <a:rPr lang="es-ES" sz="2400" b="1" i="1" dirty="0" smtClean="0">
                <a:solidFill>
                  <a:srgbClr val="7030A0"/>
                </a:solidFill>
              </a:rPr>
              <a:t> </a:t>
            </a:r>
            <a:endParaRPr lang="es-ES" sz="2400" b="1" i="1" dirty="0" smtClean="0">
              <a:solidFill>
                <a:srgbClr val="7030A0"/>
              </a:solidFill>
            </a:endParaRPr>
          </a:p>
          <a:p>
            <a:r>
              <a:rPr lang="es-ES" sz="2400" b="1" dirty="0"/>
              <a:t> </a:t>
            </a:r>
            <a:r>
              <a:rPr lang="es-ES" sz="2400" b="1" dirty="0" smtClean="0"/>
              <a:t>1</a:t>
            </a:r>
            <a:r>
              <a:rPr lang="es-ES" sz="2400" b="1" dirty="0"/>
              <a:t>).- El Recorrido o Rango </a:t>
            </a:r>
            <a:endParaRPr lang="es-ES" sz="2400" b="1" dirty="0" smtClean="0"/>
          </a:p>
          <a:p>
            <a:r>
              <a:rPr lang="es-ES" sz="2400" b="1" dirty="0" smtClean="0"/>
              <a:t> 2</a:t>
            </a:r>
            <a:r>
              <a:rPr lang="es-ES" sz="2400" b="1" dirty="0"/>
              <a:t>) La Desviación </a:t>
            </a:r>
            <a:r>
              <a:rPr lang="es-ES" sz="2400" b="1" dirty="0" err="1" smtClean="0"/>
              <a:t>cuartílica</a:t>
            </a:r>
            <a:endParaRPr lang="es-ES" sz="2400" b="1" dirty="0"/>
          </a:p>
          <a:p>
            <a:r>
              <a:rPr lang="es-ES" sz="2400" b="1" dirty="0" smtClean="0"/>
              <a:t> 4</a:t>
            </a:r>
            <a:r>
              <a:rPr lang="es-ES" sz="2400" b="1" dirty="0"/>
              <a:t>) La Desviación Típica o Estándar</a:t>
            </a:r>
            <a:r>
              <a:rPr lang="es-ES" sz="2400" b="1" dirty="0" smtClean="0"/>
              <a:t>.</a:t>
            </a:r>
            <a:endParaRPr lang="es-ES" sz="2400" b="1" dirty="0" smtClean="0"/>
          </a:p>
          <a:p>
            <a:r>
              <a:rPr lang="es-ES" sz="2400" b="1" dirty="0" smtClean="0"/>
              <a:t> </a:t>
            </a:r>
            <a:r>
              <a:rPr lang="es-ES" sz="2400" b="1" dirty="0"/>
              <a:t>5) La varianza</a:t>
            </a:r>
            <a:r>
              <a:rPr lang="es-ES" sz="2400" b="1" dirty="0" smtClean="0"/>
              <a:t>.</a:t>
            </a:r>
            <a:endParaRPr lang="es-ES" sz="2400" b="1" dirty="0" smtClean="0"/>
          </a:p>
          <a:p>
            <a:endParaRPr lang="es-ES" sz="2400" b="1" i="1" dirty="0">
              <a:solidFill>
                <a:srgbClr val="7030A0"/>
              </a:solidFill>
            </a:endParaRPr>
          </a:p>
          <a:p>
            <a:r>
              <a:rPr lang="es-ES" sz="2400" b="1" i="1" u="sng" dirty="0" smtClean="0">
                <a:solidFill>
                  <a:srgbClr val="7030A0"/>
                </a:solidFill>
              </a:rPr>
              <a:t>b) Las  Medidas de  Dispersión  relativas </a:t>
            </a:r>
            <a:endParaRPr lang="es-AR" sz="2400" i="1" u="sng" dirty="0">
              <a:solidFill>
                <a:srgbClr val="7030A0"/>
              </a:solidFill>
            </a:endParaRPr>
          </a:p>
          <a:p>
            <a:endParaRPr lang="es-ES" sz="2400" b="1" dirty="0" smtClean="0"/>
          </a:p>
          <a:p>
            <a:r>
              <a:rPr lang="es-ES" sz="2400" b="1" dirty="0" smtClean="0"/>
              <a:t> 6) Coeficiente de variación </a:t>
            </a:r>
            <a:r>
              <a:rPr lang="es-ES" sz="2400" dirty="0"/>
              <a:t> </a:t>
            </a:r>
            <a:endParaRPr lang="es-ES" sz="2400" dirty="0" smtClean="0"/>
          </a:p>
          <a:p>
            <a:endParaRPr lang="es-AR" dirty="0"/>
          </a:p>
          <a:p>
            <a:endParaRPr lang="es-A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229600" cy="1143000"/>
          </a:xfrm>
        </p:spPr>
        <p:txBody>
          <a:bodyPr/>
          <a:lstStyle/>
          <a:p>
            <a:r>
              <a:rPr lang="es-AR" b="1" u="sng" dirty="0" smtClean="0">
                <a:solidFill>
                  <a:schemeClr val="bg2">
                    <a:lumMod val="50000"/>
                  </a:schemeClr>
                </a:solidFill>
              </a:rPr>
              <a:t>Interpretación del desvío estándar </a:t>
            </a:r>
            <a:endParaRPr lang="es-AR" b="1" u="sng" dirty="0">
              <a:solidFill>
                <a:schemeClr val="bg2">
                  <a:lumMod val="50000"/>
                </a:schemeClr>
              </a:solidFill>
            </a:endParaRPr>
          </a:p>
        </p:txBody>
      </p:sp>
      <p:pic>
        <p:nvPicPr>
          <p:cNvPr id="19458" name="Picture 2"/>
          <p:cNvPicPr>
            <a:picLocks noGrp="1" noChangeAspect="1" noChangeArrowheads="1"/>
          </p:cNvPicPr>
          <p:nvPr>
            <p:ph idx="1"/>
          </p:nvPr>
        </p:nvPicPr>
        <p:blipFill>
          <a:blip r:embed="rId1" cstate="print"/>
          <a:srcRect/>
          <a:stretch>
            <a:fillRect/>
          </a:stretch>
        </p:blipFill>
        <p:spPr bwMode="auto">
          <a:xfrm>
            <a:off x="0" y="840639"/>
            <a:ext cx="8820472" cy="601736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Grp="1" noChangeAspect="1" noChangeArrowheads="1"/>
          </p:cNvPicPr>
          <p:nvPr>
            <p:ph idx="1"/>
          </p:nvPr>
        </p:nvPicPr>
        <p:blipFill>
          <a:blip r:embed="rId1" cstate="print"/>
          <a:srcRect t="18421"/>
          <a:stretch>
            <a:fillRect/>
          </a:stretch>
        </p:blipFill>
        <p:spPr bwMode="auto">
          <a:xfrm>
            <a:off x="0" y="764704"/>
            <a:ext cx="9144000" cy="51125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Grp="1" noChangeAspect="1" noChangeArrowheads="1"/>
          </p:cNvPicPr>
          <p:nvPr>
            <p:ph idx="1"/>
          </p:nvPr>
        </p:nvPicPr>
        <p:blipFill>
          <a:blip r:embed="rId1" cstate="print"/>
          <a:srcRect/>
          <a:stretch>
            <a:fillRect/>
          </a:stretch>
        </p:blipFill>
        <p:spPr bwMode="auto">
          <a:xfrm>
            <a:off x="0" y="764704"/>
            <a:ext cx="9199949" cy="50131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Grp="1" noChangeAspect="1" noChangeArrowheads="1"/>
          </p:cNvPicPr>
          <p:nvPr>
            <p:ph idx="1"/>
          </p:nvPr>
        </p:nvPicPr>
        <p:blipFill>
          <a:blip r:embed="rId1" cstate="print"/>
          <a:srcRect t="32727"/>
          <a:stretch>
            <a:fillRect/>
          </a:stretch>
        </p:blipFill>
        <p:spPr bwMode="auto">
          <a:xfrm>
            <a:off x="209865" y="2132856"/>
            <a:ext cx="8934135" cy="2664296"/>
          </a:xfrm>
          <a:prstGeom prst="rect">
            <a:avLst/>
          </a:prstGeom>
          <a:noFill/>
          <a:ln w="9525">
            <a:noFill/>
            <a:miter lim="800000"/>
            <a:headEnd/>
            <a:tailEnd/>
          </a:ln>
        </p:spPr>
      </p:pic>
      <p:sp>
        <p:nvSpPr>
          <p:cNvPr id="5" name="4 Rectángulo"/>
          <p:cNvSpPr/>
          <p:nvPr/>
        </p:nvSpPr>
        <p:spPr>
          <a:xfrm>
            <a:off x="179512" y="404664"/>
            <a:ext cx="8366458" cy="1200329"/>
          </a:xfrm>
          <a:prstGeom prst="rect">
            <a:avLst/>
          </a:prstGeom>
          <a:noFill/>
        </p:spPr>
        <p:txBody>
          <a:bodyPr wrap="square" lIns="91440" tIns="45720" rIns="91440" bIns="45720">
            <a:spAutoFit/>
          </a:bodyPr>
          <a:lstStyle/>
          <a:p>
            <a:pPr algn="ctr"/>
            <a:r>
              <a:rPr lang="es-ES" sz="36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CONVERSIÓN DE DESVÍO  </a:t>
            </a:r>
            <a:endParaRPr lang="es-ES" sz="36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a:p>
            <a:pPr algn="ctr"/>
            <a:r>
              <a:rPr lang="es-ES" sz="3600" b="1" cap="none" spc="0"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POBLACIONAL A MUESTRAL</a:t>
            </a:r>
            <a:endParaRPr lang="es-ES" sz="36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2919</Words>
  <Application>WPS Presentation</Application>
  <PresentationFormat>Presentación en pantalla (4:3)</PresentationFormat>
  <Paragraphs>97</Paragraphs>
  <Slides>21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21</vt:i4>
      </vt:variant>
    </vt:vector>
  </HeadingPairs>
  <TitlesOfParts>
    <vt:vector size="28" baseType="lpstr">
      <vt:lpstr>Arial</vt:lpstr>
      <vt:lpstr>SimSun</vt:lpstr>
      <vt:lpstr>Wingdings</vt:lpstr>
      <vt:lpstr>Microsoft YaHei</vt:lpstr>
      <vt:lpstr>Arial Unicode MS</vt:lpstr>
      <vt:lpstr>Calibri</vt:lpstr>
      <vt:lpstr>Tema de Office</vt:lpstr>
      <vt:lpstr>PowerPoint 演示文稿</vt:lpstr>
      <vt:lpstr>PowerPoint 演示文稿</vt:lpstr>
      <vt:lpstr>2.1.1  CONCEPTOS CLAVES</vt:lpstr>
      <vt:lpstr>PowerPoint 演示文稿</vt:lpstr>
      <vt:lpstr>3. DISTRIBUCIÓN DE FRECUENCIA</vt:lpstr>
      <vt:lpstr>PowerPoint 演示文稿</vt:lpstr>
      <vt:lpstr>Ejemplos de distribuciones de frecuencias </vt:lpstr>
      <vt:lpstr>Interpretando  algunos valores</vt:lpstr>
      <vt:lpstr>Respuestas </vt:lpstr>
      <vt:lpstr>VARIABLES CUALITATIVAS </vt:lpstr>
      <vt:lpstr>PowerPoint 演示文稿</vt:lpstr>
      <vt:lpstr>PowerPoint 演示文稿</vt:lpstr>
      <vt:lpstr>PowerPoint 演示文稿</vt:lpstr>
      <vt:lpstr>PowerPoint 演示文稿</vt:lpstr>
      <vt:lpstr>MEDIDAS DE TENDENCIA CENTRAL </vt:lpstr>
      <vt:lpstr>MEDIDAS DE VARIABILIDAD</vt:lpstr>
      <vt:lpstr>Interpretación del desvío estándar </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Usuario</dc:creator>
  <cp:lastModifiedBy>Esteban Rolon</cp:lastModifiedBy>
  <cp:revision>3</cp:revision>
  <dcterms:created xsi:type="dcterms:W3CDTF">2019-09-02T00:32:00Z</dcterms:created>
  <dcterms:modified xsi:type="dcterms:W3CDTF">2025-09-02T03:18:29Z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54FFA9A9DDF449C5A3EEDF6A74473AB9_12</vt:lpwstr>
  </property>
  <property fmtid="{D5CDD505-2E9C-101B-9397-08002B2CF9AE}" pid="3" name="KSOProductBuildVer">
    <vt:lpwstr>3082-12.2.0.21931</vt:lpwstr>
  </property>
</Properties>
</file>